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4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406080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59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1197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4209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8176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408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241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11/6/2025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0319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11/6/2025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57004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6813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37830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130639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5">
              <a:lumMod val="20000"/>
              <a:lumOff val="80000"/>
            </a:schemeClr>
          </a:solidFill>
        </p:spPr>
        <p:txBody>
          <a:bodyPr/>
          <a:lstStyle/>
          <a:p>
            <a:r>
              <a:rPr sz="4500" b="1" dirty="0"/>
              <a:t>Neural Systems </a:t>
            </a:r>
            <a:r>
              <a:rPr lang="en-US" sz="4500" b="1" dirty="0"/>
              <a:t>for fashion-</a:t>
            </a:r>
            <a:r>
              <a:rPr lang="en-US" sz="4500" b="1" dirty="0" err="1"/>
              <a:t>mnist</a:t>
            </a:r>
            <a:r>
              <a:rPr lang="en-US" sz="4500" b="1" dirty="0"/>
              <a:t> classification</a:t>
            </a:r>
            <a:endParaRPr sz="4500" b="1" dirty="0"/>
          </a:p>
        </p:txBody>
      </p:sp>
      <p:sp>
        <p:nvSpPr>
          <p:cNvPr id="3" name="Subtitle 2"/>
          <p:cNvSpPr>
            <a:spLocks noGrp="1"/>
          </p:cNvSpPr>
          <p:nvPr>
            <p:ph type="subTitle" idx="1"/>
          </p:nvPr>
        </p:nvSpPr>
        <p:spPr>
          <a:xfrm>
            <a:off x="802386" y="4641604"/>
            <a:ext cx="5918454" cy="1069848"/>
          </a:xfrm>
        </p:spPr>
        <p:txBody>
          <a:bodyPr>
            <a:normAutofit/>
          </a:bodyPr>
          <a:lstStyle/>
          <a:p>
            <a:r>
              <a:rPr sz="2000" b="1" dirty="0"/>
              <a:t>Name: </a:t>
            </a:r>
            <a:r>
              <a:rPr sz="2000" b="1" dirty="0" err="1"/>
              <a:t>Maskuri</a:t>
            </a:r>
            <a:r>
              <a:rPr sz="2000" b="1" dirty="0"/>
              <a:t> Nithin Kumar</a:t>
            </a:r>
          </a:p>
          <a:p>
            <a:r>
              <a:rPr sz="2000" b="1" dirty="0" err="1"/>
              <a:t>PNumber</a:t>
            </a:r>
            <a:r>
              <a:rPr sz="2000" b="1" dirty="0"/>
              <a:t>: P2908563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92522" y="662053"/>
            <a:ext cx="7543800" cy="1125804"/>
          </a:xfrm>
        </p:spPr>
        <p:txBody>
          <a:bodyPr>
            <a:normAutofit/>
          </a:bodyPr>
          <a:lstStyle/>
          <a:p>
            <a:r>
              <a:rPr sz="4500" b="1" dirty="0">
                <a:cs typeface="Times New Roman" panose="02020603050405020304" pitchFamily="18" charset="0"/>
              </a:rPr>
              <a:t>Overview</a:t>
            </a:r>
          </a:p>
        </p:txBody>
      </p:sp>
      <p:sp>
        <p:nvSpPr>
          <p:cNvPr id="11" name="Rectangle 8">
            <a:extLst>
              <a:ext uri="{FF2B5EF4-FFF2-40B4-BE49-F238E27FC236}">
                <a16:creationId xmlns:a16="http://schemas.microsoft.com/office/drawing/2014/main" id="{D3699BD1-A6F4-0C11-0ECC-7CECAF7292E3}"/>
              </a:ext>
            </a:extLst>
          </p:cNvPr>
          <p:cNvSpPr>
            <a:spLocks noGrp="1" noChangeArrowheads="1"/>
          </p:cNvSpPr>
          <p:nvPr>
            <p:ph idx="1"/>
          </p:nvPr>
        </p:nvSpPr>
        <p:spPr bwMode="auto">
          <a:xfrm>
            <a:off x="503812" y="2012932"/>
            <a:ext cx="789638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mj-lt"/>
                <a:cs typeface="Times New Roman" panose="02020603050405020304" pitchFamily="18" charset="0"/>
              </a:rPr>
              <a:t>This project uses the MNIST dataset to develop and assess two neural network designs, an Artificial Neural Network (ANN) and a Convolutional Neural Network (CNN), for handwritten digit categorization. A popular benchmark for evaluating and contrasting image classification methods, the MNIST dataset comprises 70,000 grayscale photos of handwritten numbers (0–9), each measuring 28 by 28 pixels. Comparing performance, examining the impact of architectural and training advancements, and determining the best configuration for precise picture identification were the 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38033" y="191205"/>
            <a:ext cx="7772400" cy="1609344"/>
          </a:xfrm>
        </p:spPr>
        <p:txBody>
          <a:bodyPr>
            <a:normAutofit/>
          </a:bodyPr>
          <a:lstStyle/>
          <a:p>
            <a:r>
              <a:rPr lang="en-IN" sz="4500" b="1" dirty="0">
                <a:cs typeface="Times New Roman" panose="02020603050405020304" pitchFamily="18" charset="0"/>
              </a:rPr>
              <a:t>Model Implementations</a:t>
            </a:r>
            <a:endParaRPr sz="4500" b="1" dirty="0">
              <a:cs typeface="Times New Roman" panose="02020603050405020304" pitchFamily="18" charset="0"/>
            </a:endParaRPr>
          </a:p>
        </p:txBody>
      </p:sp>
      <p:sp>
        <p:nvSpPr>
          <p:cNvPr id="3" name="Content Placeholder 2"/>
          <p:cNvSpPr>
            <a:spLocks noGrp="1"/>
          </p:cNvSpPr>
          <p:nvPr>
            <p:ph idx="1"/>
          </p:nvPr>
        </p:nvSpPr>
        <p:spPr>
          <a:xfrm>
            <a:off x="569795" y="1697373"/>
            <a:ext cx="7772400" cy="4050792"/>
          </a:xfrm>
        </p:spPr>
        <p:txBody>
          <a:bodyPr>
            <a:noAutofit/>
          </a:bodyPr>
          <a:lstStyle/>
          <a:p>
            <a:pPr marL="0" indent="0">
              <a:buNone/>
            </a:pPr>
            <a:r>
              <a:rPr b="1" dirty="0">
                <a:latin typeface="+mj-lt"/>
                <a:cs typeface="Times New Roman" panose="02020603050405020304" pitchFamily="18" charset="0"/>
              </a:rPr>
              <a:t>Basic ANN:</a:t>
            </a:r>
          </a:p>
          <a:p>
            <a:r>
              <a:rPr dirty="0">
                <a:latin typeface="+mj-lt"/>
                <a:cs typeface="Times New Roman" panose="02020603050405020304" pitchFamily="18" charset="0"/>
              </a:rPr>
              <a:t>Fully connected network with one hidden layer using </a:t>
            </a:r>
            <a:r>
              <a:rPr dirty="0" err="1">
                <a:latin typeface="+mj-lt"/>
                <a:cs typeface="Times New Roman" panose="02020603050405020304" pitchFamily="18" charset="0"/>
              </a:rPr>
              <a:t>ReLU</a:t>
            </a:r>
            <a:r>
              <a:rPr dirty="0">
                <a:latin typeface="+mj-lt"/>
                <a:cs typeface="Times New Roman" panose="02020603050405020304" pitchFamily="18" charset="0"/>
              </a:rPr>
              <a:t> activation and </a:t>
            </a:r>
            <a:r>
              <a:rPr dirty="0" err="1">
                <a:latin typeface="+mj-lt"/>
                <a:cs typeface="Times New Roman" panose="02020603050405020304" pitchFamily="18" charset="0"/>
              </a:rPr>
              <a:t>softmax</a:t>
            </a:r>
            <a:r>
              <a:rPr dirty="0">
                <a:latin typeface="+mj-lt"/>
                <a:cs typeface="Times New Roman" panose="02020603050405020304" pitchFamily="18" charset="0"/>
              </a:rPr>
              <a:t> output.</a:t>
            </a:r>
          </a:p>
          <a:p>
            <a:r>
              <a:rPr dirty="0">
                <a:latin typeface="+mj-lt"/>
                <a:cs typeface="Times New Roman" panose="02020603050405020304" pitchFamily="18" charset="0"/>
              </a:rPr>
              <a:t> Optimizer: Stochastic Gradient Descent (SGD).</a:t>
            </a:r>
          </a:p>
          <a:p>
            <a:r>
              <a:rPr dirty="0">
                <a:latin typeface="+mj-lt"/>
                <a:cs typeface="Times New Roman" panose="02020603050405020304" pitchFamily="18" charset="0"/>
              </a:rPr>
              <a:t>Regularization: None.</a:t>
            </a:r>
          </a:p>
          <a:p>
            <a:r>
              <a:rPr dirty="0">
                <a:latin typeface="+mj-lt"/>
                <a:cs typeface="Times New Roman" panose="02020603050405020304" pitchFamily="18" charset="0"/>
              </a:rPr>
              <a:t>Purpose: Establish baseline performance.</a:t>
            </a:r>
          </a:p>
          <a:p>
            <a:pPr marL="0" indent="0">
              <a:buNone/>
            </a:pPr>
            <a:r>
              <a:rPr b="1" dirty="0">
                <a:latin typeface="+mj-lt"/>
                <a:cs typeface="Times New Roman" panose="02020603050405020304" pitchFamily="18" charset="0"/>
              </a:rPr>
              <a:t>Basic CNN:</a:t>
            </a:r>
          </a:p>
          <a:p>
            <a:r>
              <a:rPr dirty="0">
                <a:latin typeface="+mj-lt"/>
                <a:cs typeface="Times New Roman" panose="02020603050405020304" pitchFamily="18" charset="0"/>
              </a:rPr>
              <a:t>Two Conv2D layers followed by MaxPooling2D, Flatten, and Dense output layers.</a:t>
            </a:r>
          </a:p>
          <a:p>
            <a:r>
              <a:rPr dirty="0">
                <a:latin typeface="+mj-lt"/>
                <a:cs typeface="Times New Roman" panose="02020603050405020304" pitchFamily="18" charset="0"/>
              </a:rPr>
              <a:t>Optimizer: Adam.</a:t>
            </a:r>
          </a:p>
          <a:p>
            <a:r>
              <a:rPr dirty="0">
                <a:latin typeface="+mj-lt"/>
                <a:cs typeface="Times New Roman" panose="02020603050405020304" pitchFamily="18" charset="0"/>
              </a:rPr>
              <a:t>Activation: </a:t>
            </a:r>
            <a:r>
              <a:rPr dirty="0" err="1">
                <a:latin typeface="+mj-lt"/>
                <a:cs typeface="Times New Roman" panose="02020603050405020304" pitchFamily="18" charset="0"/>
              </a:rPr>
              <a:t>ReLU</a:t>
            </a:r>
            <a:r>
              <a:rPr dirty="0">
                <a:latin typeface="+mj-lt"/>
                <a:cs typeface="Times New Roman" panose="02020603050405020304" pitchFamily="18" charset="0"/>
              </a:rPr>
              <a:t> (hidden), </a:t>
            </a:r>
            <a:r>
              <a:rPr dirty="0" err="1">
                <a:latin typeface="+mj-lt"/>
                <a:cs typeface="Times New Roman" panose="02020603050405020304" pitchFamily="18" charset="0"/>
              </a:rPr>
              <a:t>Softmax</a:t>
            </a:r>
            <a:r>
              <a:rPr dirty="0">
                <a:latin typeface="+mj-lt"/>
                <a:cs typeface="Times New Roman" panose="02020603050405020304" pitchFamily="18" charset="0"/>
              </a:rPr>
              <a:t> (output).</a:t>
            </a:r>
          </a:p>
          <a:p>
            <a:r>
              <a:rPr dirty="0">
                <a:latin typeface="+mj-lt"/>
                <a:cs typeface="Times New Roman" panose="02020603050405020304" pitchFamily="18" charset="0"/>
              </a:rPr>
              <a:t>Purpose: Introduce spatial feature extraction.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500" b="1" dirty="0"/>
              <a:t>Enhanced Models</a:t>
            </a:r>
            <a:endParaRPr sz="4500" b="1" dirty="0"/>
          </a:p>
        </p:txBody>
      </p:sp>
      <p:sp>
        <p:nvSpPr>
          <p:cNvPr id="3" name="Content Placeholder 2"/>
          <p:cNvSpPr>
            <a:spLocks noGrp="1"/>
          </p:cNvSpPr>
          <p:nvPr>
            <p:ph idx="1"/>
          </p:nvPr>
        </p:nvSpPr>
        <p:spPr/>
        <p:txBody>
          <a:bodyPr>
            <a:normAutofit/>
          </a:bodyPr>
          <a:lstStyle/>
          <a:p>
            <a:pPr marL="0" indent="0">
              <a:buNone/>
            </a:pPr>
            <a:r>
              <a:rPr b="1" dirty="0"/>
              <a:t>Enhanced ANN:</a:t>
            </a:r>
          </a:p>
          <a:p>
            <a:r>
              <a:rPr dirty="0"/>
              <a:t> Added Dropout layers, optimized with Adam optimizer, increased hidden layer depth.</a:t>
            </a:r>
          </a:p>
          <a:p>
            <a:r>
              <a:rPr dirty="0"/>
              <a:t> Batch normalization and learning rate scheduling improved convergence.</a:t>
            </a:r>
          </a:p>
          <a:p>
            <a:pPr marL="0" indent="0">
              <a:buNone/>
            </a:pPr>
            <a:r>
              <a:rPr b="1" dirty="0"/>
              <a:t>Enhanced CNN:</a:t>
            </a:r>
          </a:p>
          <a:p>
            <a:r>
              <a:rPr dirty="0"/>
              <a:t>Added convolutional blocks, Dropout, batch normalization, and data augmentation.</a:t>
            </a:r>
          </a:p>
          <a:p>
            <a:r>
              <a:rPr dirty="0"/>
              <a:t> Hyperparameter tuning (filters, kernel size, learning rate) optimized accuracy and stability.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68088" y="225735"/>
            <a:ext cx="7772400" cy="1609344"/>
          </a:xfrm>
        </p:spPr>
        <p:txBody>
          <a:bodyPr>
            <a:normAutofit/>
          </a:bodyPr>
          <a:lstStyle/>
          <a:p>
            <a:r>
              <a:rPr sz="4500" b="1" dirty="0"/>
              <a:t>Major Findings</a:t>
            </a:r>
          </a:p>
        </p:txBody>
      </p:sp>
      <p:sp>
        <p:nvSpPr>
          <p:cNvPr id="3" name="Content Placeholder 2"/>
          <p:cNvSpPr>
            <a:spLocks noGrp="1"/>
          </p:cNvSpPr>
          <p:nvPr>
            <p:ph idx="1"/>
          </p:nvPr>
        </p:nvSpPr>
        <p:spPr>
          <a:xfrm>
            <a:off x="568088" y="1568673"/>
            <a:ext cx="8007824" cy="4675177"/>
          </a:xfrm>
        </p:spPr>
        <p:txBody>
          <a:bodyPr>
            <a:noAutofit/>
          </a:bodyPr>
          <a:lstStyle/>
          <a:p>
            <a:pPr marL="0" indent="0">
              <a:buNone/>
            </a:pPr>
            <a:r>
              <a:rPr b="1" dirty="0"/>
              <a:t>Accuracy Results:</a:t>
            </a:r>
          </a:p>
          <a:p>
            <a:r>
              <a:rPr dirty="0"/>
              <a:t>Basic ANN: 87%</a:t>
            </a:r>
          </a:p>
          <a:p>
            <a:r>
              <a:rPr dirty="0"/>
              <a:t>Enhanced ANN: 88%</a:t>
            </a:r>
          </a:p>
          <a:p>
            <a:r>
              <a:rPr dirty="0"/>
              <a:t> Basic CNN: 91%</a:t>
            </a:r>
          </a:p>
          <a:p>
            <a:r>
              <a:rPr dirty="0"/>
              <a:t>Enhanced CNN: 91%</a:t>
            </a:r>
          </a:p>
          <a:p>
            <a:pPr marL="0" indent="0">
              <a:buNone/>
            </a:pPr>
            <a:r>
              <a:rPr b="1" dirty="0"/>
              <a:t>Performance:</a:t>
            </a:r>
          </a:p>
          <a:p>
            <a:r>
              <a:rPr dirty="0"/>
              <a:t>CNN models outperform ANNs due to superior spatial feature extraction. Adam optimization and dropout improved generalization.</a:t>
            </a:r>
          </a:p>
          <a:p>
            <a:pPr marL="0" indent="0">
              <a:buNone/>
            </a:pPr>
            <a:r>
              <a:rPr b="1" dirty="0"/>
              <a:t>Training Efficiency:</a:t>
            </a:r>
          </a:p>
          <a:p>
            <a:r>
              <a:rPr dirty="0"/>
              <a:t>Improved models took longer to train but achieved faster convergence per epoch.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500" b="1" dirty="0"/>
              <a:t>Innovations</a:t>
            </a:r>
          </a:p>
        </p:txBody>
      </p:sp>
      <p:sp>
        <p:nvSpPr>
          <p:cNvPr id="3" name="Content Placeholder 2"/>
          <p:cNvSpPr>
            <a:spLocks noGrp="1"/>
          </p:cNvSpPr>
          <p:nvPr>
            <p:ph idx="1"/>
          </p:nvPr>
        </p:nvSpPr>
        <p:spPr/>
        <p:txBody>
          <a:bodyPr>
            <a:normAutofit/>
          </a:bodyPr>
          <a:lstStyle/>
          <a:p>
            <a:r>
              <a:rPr dirty="0"/>
              <a:t>Integration of batch normalization and dropout for stability.</a:t>
            </a:r>
          </a:p>
          <a:p>
            <a:r>
              <a:rPr dirty="0"/>
              <a:t> Use of Adam optimizer and learning rate scheduling for effective convergence.</a:t>
            </a:r>
          </a:p>
          <a:p>
            <a:r>
              <a:rPr dirty="0"/>
              <a:t>Data visualization (accuracy/loss charts, confusion matrices) for interpretability.</a:t>
            </a:r>
          </a:p>
          <a:p>
            <a:r>
              <a:rPr dirty="0"/>
              <a:t>Data augmentation to enhance CNN robustness.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500" b="1" dirty="0"/>
              <a:t>Conclusions and Insights</a:t>
            </a:r>
          </a:p>
        </p:txBody>
      </p:sp>
      <p:sp>
        <p:nvSpPr>
          <p:cNvPr id="3" name="Content Placeholder 2"/>
          <p:cNvSpPr>
            <a:spLocks noGrp="1"/>
          </p:cNvSpPr>
          <p:nvPr>
            <p:ph idx="1"/>
          </p:nvPr>
        </p:nvSpPr>
        <p:spPr/>
        <p:txBody>
          <a:bodyPr>
            <a:normAutofit/>
          </a:bodyPr>
          <a:lstStyle/>
          <a:p>
            <a:r>
              <a:rPr dirty="0"/>
              <a:t>CNN architectures outperform ANNs for image-based classification like MNIST. Improvements in regularization, optimization, and architecture depth enhanced accuracy and generalization.</a:t>
            </a:r>
          </a:p>
          <a:p>
            <a:pPr marL="0" indent="0">
              <a:buNone/>
            </a:pPr>
            <a:r>
              <a:rPr b="1" dirty="0"/>
              <a:t>Future Work:</a:t>
            </a:r>
          </a:p>
          <a:p>
            <a:r>
              <a:rPr dirty="0"/>
              <a:t>Transfer learning and advanced architectures such as </a:t>
            </a:r>
            <a:r>
              <a:rPr dirty="0" err="1"/>
              <a:t>ResNet</a:t>
            </a:r>
            <a:r>
              <a:rPr dirty="0"/>
              <a:t> or Capsule Networks may further boost performance</a:t>
            </a:r>
            <a:r>
              <a:rPr sz="1700"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AFEE-0F10-B307-681F-8E29D3C18C29}"/>
              </a:ext>
            </a:extLst>
          </p:cNvPr>
          <p:cNvSpPr>
            <a:spLocks noGrp="1"/>
          </p:cNvSpPr>
          <p:nvPr>
            <p:ph type="title"/>
          </p:nvPr>
        </p:nvSpPr>
        <p:spPr>
          <a:xfrm>
            <a:off x="610737" y="2402143"/>
            <a:ext cx="7772400" cy="1609344"/>
          </a:xfrm>
        </p:spPr>
        <p:txBody>
          <a:bodyPr>
            <a:normAutofit/>
          </a:bodyPr>
          <a:lstStyle/>
          <a:p>
            <a:pPr algn="ctr"/>
            <a:r>
              <a:rPr lang="en-US" sz="4500" b="1" dirty="0"/>
              <a:t>THANK YOU</a:t>
            </a:r>
            <a:endParaRPr lang="en-IN" sz="4500" b="1" dirty="0"/>
          </a:p>
        </p:txBody>
      </p:sp>
    </p:spTree>
    <p:extLst>
      <p:ext uri="{BB962C8B-B14F-4D97-AF65-F5344CB8AC3E}">
        <p14:creationId xmlns:p14="http://schemas.microsoft.com/office/powerpoint/2010/main" val="2186318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Riblet">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7145" cap="flat" cmpd="sng" algn="ctr">
          <a:solidFill>
            <a:schemeClr val="phClr"/>
          </a:solidFill>
          <a:prstDash val="solid"/>
        </a:ln>
        <a:ln w="58420" cap="flat" cmpd="thickThin" algn="ctr">
          <a:solidFill>
            <a:schemeClr val="phClr">
              <a:shade val="95000"/>
              <a:alpha val="50000"/>
              <a:satMod val="150000"/>
            </a:schemeClr>
          </a:solidFill>
          <a:prstDash val="solid"/>
        </a:ln>
      </a:lnStyleLst>
      <a:effectStyleLst>
        <a:effectStyle>
          <a:effectLst/>
        </a:effectStyle>
        <a:effectStyle>
          <a:effectLst>
            <a:outerShdw blurRad="50800" dist="38100" dir="2700000" rotWithShape="0">
              <a:srgbClr val="000000">
                <a:alpha val="60000"/>
              </a:srgbClr>
            </a:outerShdw>
          </a:effectLst>
          <a:scene3d>
            <a:camera prst="orthographicFront">
              <a:rot lat="0" lon="0" rev="0"/>
            </a:camera>
            <a:lightRig rig="flat" dir="tl"/>
          </a:scene3d>
          <a:sp3d prstMaterial="flat">
            <a:bevelT w="31750" h="63500" prst="riblet"/>
          </a:sp3d>
        </a:effectStyle>
        <a:effectStyle>
          <a:effectLst>
            <a:outerShdw blurRad="50800" dist="38100" dir="2700000" algn="ctr" rotWithShape="0">
              <a:srgbClr val="000000">
                <a:alpha val="60000"/>
              </a:srgbClr>
            </a:outerShdw>
          </a:effectLst>
          <a:scene3d>
            <a:camera prst="orthographicFront">
              <a:rot lat="0" lon="0" rev="0"/>
            </a:camera>
            <a:lightRig rig="flat" dir="tl"/>
          </a:scene3d>
          <a:sp3d prstMaterial="flat">
            <a:bevelT w="57150" h="114300" prst="riblet"/>
          </a:sp3d>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64</TotalTime>
  <Words>398</Words>
  <Application>Microsoft Office PowerPoint</Application>
  <PresentationFormat>On-screen Show (4:3)</PresentationFormat>
  <Paragraphs>43</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Rockwell</vt:lpstr>
      <vt:lpstr>Rockwell Condensed</vt:lpstr>
      <vt:lpstr>Times New Roman</vt:lpstr>
      <vt:lpstr>Wingdings</vt:lpstr>
      <vt:lpstr>Wood Type</vt:lpstr>
      <vt:lpstr>Neural Systems for fashion-mnist classification</vt:lpstr>
      <vt:lpstr>Overview</vt:lpstr>
      <vt:lpstr>Model Implementations</vt:lpstr>
      <vt:lpstr>Enhanced Models</vt:lpstr>
      <vt:lpstr>Major Findings</vt:lpstr>
      <vt:lpstr>Innovations</vt:lpstr>
      <vt:lpstr>Conclusions and Insights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vesani deepa</cp:lastModifiedBy>
  <cp:revision>3</cp:revision>
  <dcterms:created xsi:type="dcterms:W3CDTF">2013-01-27T09:14:16Z</dcterms:created>
  <dcterms:modified xsi:type="dcterms:W3CDTF">2025-11-06T02:25:57Z</dcterms:modified>
  <cp:category/>
</cp:coreProperties>
</file>